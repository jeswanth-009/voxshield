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e59962ff0d43f2" /><Relationship Type="http://schemas.openxmlformats.org/officeDocument/2006/relationships/extended-properties" Target="/docProps/app.xml" Id="Re4d17e6846f04dee" /><Relationship Type="http://schemas.openxmlformats.org/officeDocument/2006/relationships/officeDocument" Target="/ppt/presentation.xml" Id="Rc5e50b47f03b49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1bd04fcbfa476a"/>
  </p:sldMasterIdLst>
  <p:notesMasterIdLst>
    <p:notesMasterId xmlns:r="http://schemas.openxmlformats.org/officeDocument/2006/relationships" r:id="R5f093bc66e3549a1"/>
  </p:notesMasterIdLst>
  <p:sldIdLst>
    <p:sldId xmlns:r="http://schemas.openxmlformats.org/officeDocument/2006/relationships" id="256" r:id="Ra0f08755e6f3499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f0cae8c472441a" /><Relationship Type="http://schemas.openxmlformats.org/officeDocument/2006/relationships/slideMaster" Target="/ppt/slideMasters/slideMaster1.xml" Id="Rf71bd04fcbfa476a" /><Relationship Type="http://schemas.openxmlformats.org/officeDocument/2006/relationships/notesMaster" Target="/ppt/notesMasters/notesMaster1.xml" Id="R5f093bc66e3549a1" /><Relationship Type="http://schemas.openxmlformats.org/officeDocument/2006/relationships/presProps" Target="/ppt/presProps.xml" Id="R962491c294024fdc" /><Relationship Type="http://schemas.openxmlformats.org/officeDocument/2006/relationships/tableStyles" Target="/ppt/tableStyles.xml" Id="Rb05578c46d4a462c" /><Relationship Type="http://schemas.openxmlformats.org/officeDocument/2006/relationships/slide" Target="/ppt/slides/slide1.xml" Id="Ra0f08755e6f349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68513bfb7e45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61038b86644e94" /><Relationship Type="http://schemas.openxmlformats.org/officeDocument/2006/relationships/notesMaster" Target="/ppt/notesMasters/notesMaster1.xml" Id="R3417cfb6e32341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 generated for VoxShield SIH PS 26052. Factual metrics are from the user's reported v15 and Pi 5 evidence: v15 broad SNR 30.48 dB, Pi 5 mean latency 5.33 ms, speech deletion 0.0 in reported audits. Hardware note included to avoid overclaiming physical ANC before synchronized dual-mic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bf899bb7bb46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ed97b9f46f40a6" /><Relationship Type="http://schemas.openxmlformats.org/officeDocument/2006/relationships/slideLayout" Target="/ppt/slideLayouts/slideLayout1.xml" Id="R90e60263a6ee48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e60263a6ee48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12bf9b87649cd" /><Relationship Type="http://schemas.openxmlformats.org/officeDocument/2006/relationships/notesSlide" Target="/ppt/notesSlides/notesSlide1.xml" Id="R51f4ae7a384249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09E7298-DFB8-442F-A39B-E8F7E972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B3D25-B51B-43BC-A3A2-97E88983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Ministry of Education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01FE0-9558-4A37-82F1-C364F61C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Government of India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21117-0732-4961-88E7-07C91554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2382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7345C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7345C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9AD81-1424-4DF1-9979-27C4638F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1238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AICTE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F3130-5823-49F4-AD66-BBA03046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429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All India Council for Technical Education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DABFC-7425-4E33-901B-359AA387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524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45C"/>
          </a:solidFill>
          <a:ln xmlns:a="http://schemas.openxmlformats.org/drawingml/2006/main" w="0">
            <a:solidFill>
              <a:srgbClr val="07345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4CA0E-CA73-4900-962D-93E10FD2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858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477A"/>
          </a:solidFill>
          <a:ln xmlns:a="http://schemas.openxmlformats.org/drawingml/2006/main" w="0">
            <a:solidFill>
              <a:srgbClr val="0B477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79E3A-6AEF-4C0C-862E-E8E36B1C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524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Team@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B4F28-9FA9-489A-BCA8-961E83C9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7143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SIH 2026  •  PS 26052  •  Hardware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B522E-C763-47E2-8086-2330727F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524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IDEA TITLE AND PROPOSED SOLUTION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D6381-BA6D-4BBE-B736-488C714A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1295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7345C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07345C"/>
                </a:solidFill>
                <a:latin typeface="Aptos"/>
                <a:ea typeface="Aptos"/>
                <a:cs typeface="Aptos"/>
              </a:rPr>
              <a:t>VoxShield: AI speech enhancement engine for noisy defence communication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2F3AE-960F-478F-8F02-917CC973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43100"/>
            <a:ext cx="1133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Improves command intelligibility under vehicle, rotor, impulse and ambient noise using local real-time inference.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A4F43-172B-4A33-B9FF-08BA9344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57450"/>
            <a:ext cx="3238500" cy="385762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F3B4B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0DBF5-0515-4469-82F3-D207F863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57450"/>
            <a:ext cx="721995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6C8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24FBC-D6F5-4B53-9CE1-93D799E3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57450"/>
            <a:ext cx="3257550" cy="3857625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6E5C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A0533-8FC3-4805-96D4-BFB680CE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2933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E5484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D9726-A1B9-4D07-835A-B464C94E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  Problem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C1C5C-D6AD-4361-8A73-64B20C47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09850"/>
            <a:ext cx="6877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345C"/>
          </a:solidFill>
          <a:ln xmlns:a="http://schemas.openxmlformats.org/drawingml/2006/main" w="0">
            <a:solidFill>
              <a:srgbClr val="0734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8B8D01-3A49-4F38-8CB6-4CE38C53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860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  Proposed system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E8EDEA-A710-4782-BC16-516703E4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609850"/>
            <a:ext cx="2952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solidFill>
              <a:srgbClr val="12B76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79F59-A899-48C4-827F-413643DC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268605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  Prototype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CA641-E152-4655-A795-5651E4AE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2819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9525">
            <a:solidFill>
              <a:srgbClr val="EBC2C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66EF92-9E15-4D67-B7DF-4FB1AD46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E5484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6B7073-5ECB-4495-A4BE-26967B5A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E548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47846-22A1-4833-85FE-EF79789B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14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Vehicle and engine noise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D76351-128D-4D05-ABE5-AD4F00DD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Masks low-frequency speech cues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CAEEC9-CA75-4698-BEDD-72711521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2819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C2C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24AC3C-D422-40A0-B70F-F16D8596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E5484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86AE7D-C947-489F-BD57-0BDDF13C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671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E5484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4BF599-82FB-4EEE-8485-2A3BCA99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Rotor and wind noise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38B71A-1E52-4F3D-B4D9-9B6E4F13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Creates modulated nonstationary noise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EA78E5-A408-4547-BB54-C1419C9D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2819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9525">
            <a:solidFill>
              <a:srgbClr val="EBC2C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9691E6-A18C-49AD-9185-FC5B49F9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E5484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770503-2FB4-46FC-A5E2-F7B81F69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E5484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84275F-E2F4-4B5B-A9C2-AAD93D2C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Impulse noise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5E3BE7-F955-4936-8213-EB5B3CDF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76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Can hide short command words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16D4FA-F50A-47F5-8728-6279F428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2819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C2C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B738E0-B4D6-4595-BE73-F06EC7A7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006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E5484D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C02937-5102-4DD7-B761-75FEBBEC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387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E5484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56D6E3-E56E-433F-AE41-70A777F9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72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Ambient field noise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74A26A-79A5-4B8A-BBA4-2E628311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626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Reduces communication intelligibility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EA5502-26C5-4D28-B140-FFB5628F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2819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6FF0DA-9ACF-4B2F-B0AB-18AA1C41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5484D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F465E3-A751-4FF1-91A1-5EF86478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0864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Command words can get masked in high-noise communication.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E9EB03-6236-40E5-913E-AE9744B9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432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System idea: use a reference-noise path plus speech-preserving enhancement, then expose runtime health for the operator.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B9D028-DA99-42BA-BF2F-771445D8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43325"/>
            <a:ext cx="1200150" cy="1257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BBD4E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AFCCA4-07C5-4737-B59B-E663CF1C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67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0EA5E9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0AB9AA-57D3-4FFC-931C-6E6D1E59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52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345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345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84AB3C-92FC-481A-9F71-169BBE63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529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Primary mic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772899-62D5-4D79-9CAF-322044B5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81525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Speech near mouth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5509E6-0DAD-47EA-8962-AF2212EE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10050"/>
            <a:ext cx="247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B9E8"/>
          </a:solidFill>
          <a:ln xmlns:a="http://schemas.openxmlformats.org/drawingml/2006/main" w="0">
            <a:solidFill>
              <a:srgbClr val="8BB9E8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B589BB-5F32-40A8-9C0B-4A1A2E8A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43325"/>
            <a:ext cx="1200150" cy="1257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BBD4E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50A0FB-4892-49F6-B6B0-F76E9C64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0EA5E9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5A49E6-4CCE-4ED0-82ED-17375AE6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52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345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345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4ED2D2-58B1-4379-98EC-8DF40017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529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Reference mic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41B8AA7-91B7-4206-8C63-D45FE387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81525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Environment noise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F3BEDDB-6F25-4998-9F23-D00D503A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210050"/>
            <a:ext cx="247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B9E8"/>
          </a:solidFill>
          <a:ln xmlns:a="http://schemas.openxmlformats.org/drawingml/2006/main" w="0">
            <a:solidFill>
              <a:srgbClr val="8BB9E8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A2E668-31D2-4E68-9AC4-3B54E64B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1200150" cy="1257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BBD4E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0A29C1D-3A78-45AD-A9ED-A0B1A921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67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1430">
            <a:solidFill>
              <a:srgbClr val="07345C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83AA9E-F63A-4DC5-9F9D-6D1937A2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52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345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345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6476F3-AD83-42F0-B983-0FB2C2C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529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Streaming model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047176-58BB-4052-98B2-3A4F972A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81525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Dual-channel deep filter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0B39482-CD4B-4F84-B6E9-9FAADD15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210050"/>
            <a:ext cx="247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B9E8"/>
          </a:solidFill>
          <a:ln xmlns:a="http://schemas.openxmlformats.org/drawingml/2006/main" w="0">
            <a:solidFill>
              <a:srgbClr val="8BB9E8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D7E4879-E597-471C-848D-CE49DC10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43325"/>
            <a:ext cx="1200150" cy="1257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BBD4E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8A2D61-BE05-4659-A232-56068193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67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1430">
            <a:solidFill>
              <a:srgbClr val="07345C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B78431-2398-45C0-95E3-3DB3C94B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52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345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345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DFB20D6-EEC9-420E-90BB-3BA2BDD2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529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Retention guard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9DEC779-8182-4D4C-9E97-B44C3750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81525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Checks speech deletion risk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927310-16CD-42DE-A09D-22480F68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210050"/>
            <a:ext cx="247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B9E8"/>
          </a:solidFill>
          <a:ln xmlns:a="http://schemas.openxmlformats.org/drawingml/2006/main" w="0">
            <a:solidFill>
              <a:srgbClr val="8BB9E8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E29951F-DD39-49EA-9814-C16227CF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43325"/>
            <a:ext cx="1200150" cy="1257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BBD4E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581FD6E-CBD5-4F09-965F-71E1631F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867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11430">
            <a:solidFill>
              <a:srgbClr val="12B76A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D5F957-ACB1-4190-B812-A0918502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952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2B76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2B76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FECB4E8-AC1B-44B5-B693-44AA3815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3529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Enhanced output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5E4B6B0-C08A-4E14-80A2-6FD51B45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581525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Audio plus telemetry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66C50F6-DAE9-403F-A25D-8B325702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95900"/>
            <a:ext cx="30956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56C8575-EB47-4EA7-9B53-3DBD31B9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102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345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345C"/>
                </a:solidFill>
                <a:latin typeface="Aptos"/>
                <a:ea typeface="Aptos"/>
                <a:cs typeface="Aptos"/>
              </a:rPr>
              <a:t>Validated software path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E01FEAA-59EF-4719-9FAC-55CF6198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6483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953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ONNX export, offline audits, failure analysis and controlled replay demo.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D87139D-EF72-4C0E-BD61-64A6F916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95900"/>
            <a:ext cx="3238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CD34D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12C04C0-32E2-4B21-A4A8-4AB47B50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102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92400E"/>
                </a:solidFill>
                <a:latin typeface="Aptos"/>
                <a:ea typeface="Aptos"/>
                <a:cs typeface="Aptos"/>
              </a:rPr>
              <a:t>Hardware note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B8C233F-D5D1-4438-B736-234F3954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648325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0" i="0">
                <a:solidFill>
                  <a:srgbClr val="713F12"/>
                </a:solidFill>
                <a:latin typeface="Aptos"/>
                <a:ea typeface="Aptos"/>
                <a:cs typeface="Aptos"/>
              </a:defRPr>
            </a:pPr>
            <a:r>
              <a:rPr sz="953" b="0" i="0">
                <a:solidFill>
                  <a:srgbClr val="713F12"/>
                </a:solidFill>
                <a:latin typeface="Aptos"/>
                <a:ea typeface="Aptos"/>
                <a:cs typeface="Aptos"/>
              </a:rPr>
              <a:t>True physical validation needs synchronized raw dual-microphone capture.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EF40267-AE40-4D3B-BE3A-A58A3CCD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0"/>
            <a:ext cx="2838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EFA"/>
          </a:solidFill>
          <a:ln xmlns:a="http://schemas.openxmlformats.org/drawingml/2006/main" w="9525">
            <a:solidFill>
              <a:srgbClr val="B6E8CA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C660C59-FF2D-4832-A9E0-EAB30525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3352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2B76A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D7C011B-435D-4FFE-BE05-5F304738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33623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2B76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2B76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11178D5-EAAC-484F-9217-55E48A45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3242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Enhanced speech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A4C7C25-5E6C-402C-81DF-A287A96B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147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93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Clearer command audio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935A2C8-2CDF-46A4-BD4C-4D3AB918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886200"/>
            <a:ext cx="2838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E8CA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CCADD0B-CFCA-4936-8E60-05E7140A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000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2B76A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1294C17-5AE1-45AA-984E-874579EB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0100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2B76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2B76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40ACE5B-7FAD-47B6-8443-10BAF24F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9719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Runtime telemetry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DE326DC-E907-4B00-877D-26788357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1624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93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Latency, bypass and health state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DBD9B8F-8DC3-439C-86BC-7D1BD024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533900"/>
            <a:ext cx="2838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EFA"/>
          </a:solidFill>
          <a:ln xmlns:a="http://schemas.openxmlformats.org/drawingml/2006/main" w="9525">
            <a:solidFill>
              <a:srgbClr val="B6E8CA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35034C8-A2BD-4B35-B37E-B83E1767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648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2B76A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7E8198A-E4E7-48E9-8053-4560FEA1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6577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2B76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2B76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6664C89-2DD3-44C0-9EDB-1B0613F4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6196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 report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59FB24B-3213-4807-912F-6ABF9AF9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8101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93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SNR, STOI, PESQ and deletion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1C26459-D432-4D31-9723-6D67DAFF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181600"/>
            <a:ext cx="2838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E8CA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5782991-C264-4C1E-A382-48432244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295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2B76A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EE9D244-5031-43FB-94B9-2C71FB06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3054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2B76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2B76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4CA6473-C9CD-40E9-8924-DB297E41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2673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Edge deployment path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676E212-E864-46BF-B02E-BBEEB194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4578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93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ONNX model and Pi 5 benchmark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6B39188-5731-4CF6-B89C-BE489150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019800"/>
            <a:ext cx="2838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C38DF56-8872-40F5-98DE-ADA758C7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6134100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65F46"/>
                </a:solidFill>
                <a:latin typeface="Aptos"/>
                <a:ea typeface="Aptos"/>
                <a:cs typeface="Aptos"/>
              </a:rPr>
              <a:t>Output is a prototype evidence path, not a claimed field-ready headset.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66B5753-FF3C-4FE2-8F87-983A2663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7345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7345C"/>
                </a:solidFill>
                <a:latin typeface="Aptos"/>
                <a:ea typeface="Aptos"/>
                <a:cs typeface="Aptos"/>
              </a:rPr>
              <a:t>Proof strip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4040214-6805-4140-A88D-849DC22D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657975"/>
            <a:ext cx="13144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A3ECE04-922E-4ACC-8F6B-B43A0617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915150"/>
            <a:ext cx="3333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DEE8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B3FDF94-6B35-4447-8778-ED9452DB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86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>
              <a:alpha val="13333"/>
            </a:srgbClr>
          </a:solidFill>
          <a:ln xmlns:a="http://schemas.openxmlformats.org/drawingml/2006/main" w="10478">
            <a:solidFill>
              <a:srgbClr val="12B76A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D1E7622-D240-4379-A4FB-45978527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0485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B76A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2B76A"/>
                </a:solidFill>
                <a:latin typeface="Aptos"/>
                <a:ea typeface="Aptos"/>
                <a:cs typeface="Aptos"/>
              </a:rPr>
              <a:t>30.48 dB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A6324BB-8BA8-40F9-AFE5-1B326732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3723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SNR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9969708-B547-4485-B834-B6DF8BFB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5628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v15 broad strict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4D6B40-9F1F-47E5-8FC4-9DCB4B92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915150"/>
            <a:ext cx="3333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DEE8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DA7773B-A6B1-4828-9094-F3476930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7086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>
              <a:alpha val="13333"/>
            </a:srgbClr>
          </a:solidFill>
          <a:ln xmlns:a="http://schemas.openxmlformats.org/drawingml/2006/main" w="10478">
            <a:solidFill>
              <a:srgbClr val="0EA5E9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6C64F49-5B8E-457E-8FF3-F37482E0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70485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EA5E9"/>
                </a:solidFill>
                <a:latin typeface="Aptos"/>
                <a:ea typeface="Aptos"/>
                <a:cs typeface="Aptos"/>
              </a:rPr>
              <a:t>5.33 ms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82C330E-1288-4BC2-8068-BA2A98EA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73723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Latency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A152CC9-5104-49FA-A2DA-516C6EF9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75628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Pi 5 mean for 16 ms frame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73F3A70-D31F-49E1-A46A-B5DAC672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915150"/>
            <a:ext cx="3333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DEE8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0FD36BF-F5BA-4CD3-B81D-659163E6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7086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>
              <a:alpha val="13333"/>
            </a:srgbClr>
          </a:solidFill>
          <a:ln xmlns:a="http://schemas.openxmlformats.org/drawingml/2006/main" w="10478">
            <a:solidFill>
              <a:srgbClr val="12B76A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93B1A69-EDE3-402C-B0EA-B7CA1555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0485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B76A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2B76A"/>
                </a:solidFill>
                <a:latin typeface="Aptos"/>
                <a:ea typeface="Aptos"/>
                <a:cs typeface="Aptos"/>
              </a:rPr>
              <a:t>0.0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A4E629B-B650-424B-8615-3F40F389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3723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Speech deletion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AC34275-5529-4390-99D7-C7097250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5628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reported audits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09B9AA1-0DA0-402E-BD2F-AB4265E7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915150"/>
            <a:ext cx="3333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DEE8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2745E5D-3F51-493F-AD55-7DA33B62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7086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10478">
            <a:solidFill>
              <a:srgbClr val="F59E0B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EDE9D17-09E8-46E5-8C65-0094985A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70485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742DBE7-DE0F-4425-9BAB-E0882423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73723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Dual-mic validation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64954F2-503F-49E7-B90C-0CA1CBC7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75628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36173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synchronized raw capture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638579B-6C0A-47C6-AA2C-DEA8C3D8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72450"/>
            <a:ext cx="1524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EEE2DC-FA42-464D-8C3D-7E0D899C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7245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29CE191-84E6-43AE-A4CC-82282479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058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345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07345C"/>
                </a:solidFill>
                <a:latin typeface="Aptos"/>
                <a:ea typeface="Aptos"/>
                <a:cs typeface="Aptos"/>
              </a:rPr>
              <a:t>Team@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A91D3BF-EEB6-471A-90B7-37C4B867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3058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Problem Statement ID: 26052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3133A0C-CB1F-4D99-9714-37DDFEE1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3058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Theme: Defence and National Security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FC5C38B-7604-4EBB-942B-B04B78B0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305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PS Category: Hardware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63188CC-B8FA-4F1D-9C9D-1A025B99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83058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7345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7345C"/>
                </a:solidFill>
                <a:latin typeface="Aptos"/>
                <a:ea typeface="Aptos"/>
                <a:cs typeface="Aptos"/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70207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2026-09-29T13:57:35.0350000Z</dcterms:created>
  <dcterms:modified xsi:type="dcterms:W3CDTF">2026-09-29T13:57:35.0350000Z</dcterms:modified>
</coreProperties>
</file>